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C5A059"/>
                </a:solidFill>
                <a:latin typeface="Helvetica"/>
              </a:defRPr>
            </a:pPr>
            <a:r>
              <a:t>CREDIT RISK PD SCORECARD MODEL DEVELOPMENT</a:t>
            </a:r>
          </a:p>
          <a:p>
            <a:pPr>
              <a:spcAft>
                <a:spcPts val="600"/>
              </a:spcAft>
              <a:defRPr sz="1400" b="0">
                <a:solidFill>
                  <a:srgbClr val="E6E6E6"/>
                </a:solidFill>
                <a:latin typeface="Helvetica"/>
              </a:defRPr>
            </a:pPr>
            <a:r>
              <a:t>Champion Logistic Regression Scorecard vs. XGBoost Challenger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5A059"/>
                </a:solidFill>
                <a:latin typeface="Helvetica"/>
              </a:defRPr>
            </a:pPr>
            <a:r>
              <a:t>Business Context &amp; Problem Statement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  <a:latin typeface="Helvetica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Portfolio Risk Management: Standard credit departments require robust, auditable, and interpretable models to control delinquency rates and manage loan provisions.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Sample Selection Bias: Historical loans only capture approved applicants (reject inference is discussed as a future pipeline enhancement to mitigate selection bias).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Regulatory Requirements: Basel II/III compliance mandates transparent, linear probability models (scorecards) for capital adequacy calculation rather than black-box models.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Goal: Develop a scorecard scaled from 300 to 850, predicting 12-month Probability of Default (PD) to drive automated retail credit policies.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5A059"/>
                </a:solidFill>
                <a:latin typeface="Helvetica"/>
              </a:defRPr>
            </a:pPr>
            <a:r>
              <a:t>Model Methodology &amp; Performance Results</a:t>
            </a:r>
          </a:p>
          <a:p>
            <a:pPr>
              <a:spcAft>
                <a:spcPts val="600"/>
              </a:spcAft>
              <a:defRPr sz="1000" b="0">
                <a:solidFill>
                  <a:srgbClr val="FFFFFF"/>
                </a:solidFill>
                <a:latin typeface="Helvetica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Champion Model: Logistic regression fitted on Weight of Evidence (WoE) binned variables. Predictors selected using Information Value (0.02 - 0.50 range).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Scale Parameters: Scaled using Base Score = 600, Base Odds = 50:1 (Good/Bad), and Points to Double Odds (PDO) = 20.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Discriminatory Power: Achieved Gini coefficient of 0.262 and KS Statistic of 0.187 on out-of-time (OOT) test data.</a:t>
            </a:r>
          </a:p>
          <a:p>
            <a:pPr>
              <a:spcAft>
                <a:spcPts val="600"/>
              </a:spcAft>
              <a:defRPr sz="1200" b="0">
                <a:solidFill>
                  <a:srgbClr val="E6E6E6"/>
                </a:solidFill>
                <a:latin typeface="Helvetica"/>
              </a:defRPr>
            </a:pPr>
            <a:r>
              <a:t>• Calibration &amp; Stability: Well-calibrated PD probability curve. OOT score PSI is 0.0091 (&lt; 0.10, indicating high stability).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002B49"/>
                </a:solidFill>
                <a:latin typeface="Helvetica"/>
              </a:defRPr>
            </a:pPr>
            <a:r>
              <a:t>LENDING POLICY SIMULATION &amp; REVENUE OPTIMIZATION</a:t>
            </a:r>
          </a:p>
          <a:p>
            <a:pPr>
              <a:spcAft>
                <a:spcPts val="600"/>
              </a:spcAft>
              <a:defRPr sz="1400" b="0">
                <a:solidFill>
                  <a:srgbClr val="323232"/>
                </a:solidFill>
                <a:latin typeface="Helvetica"/>
              </a:defRPr>
            </a:pPr>
            <a:r>
              <a:t>Simulating Credit Cutoffs to Optimize Risk-Adjusted Portfolio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B49"/>
                </a:solidFill>
                <a:latin typeface="Helvetica"/>
              </a:defRPr>
            </a:pPr>
            <a:r>
              <a:t>Credit Policy Cutoff Analysis</a:t>
            </a:r>
          </a:p>
          <a:p>
            <a:pPr>
              <a:spcAft>
                <a:spcPts val="600"/>
              </a:spcAft>
              <a:defRPr sz="1000" b="0">
                <a:solidFill>
                  <a:srgbClr val="323232"/>
                </a:solidFill>
                <a:latin typeface="Helvetica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Recommendation: Establish a score cutoff of 620 as the lending decision threshold.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Performance: This strategy maintains a robust 72.0% approval rate while reducing the expected portfolio default rate to 11.98%.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Profit Maximization: Setting the cutoff at 620 achieves a net portfolio profit of $49.13M, optimizing risk-adjusted interest margins.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Credit Risk Bands: Excellent (750+), Good (700-749), Moderate (650-699), High Risk (600-649), and Very High Risk (&lt;600).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2512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B49"/>
                </a:solidFill>
                <a:latin typeface="Helvetica"/>
              </a:defRPr>
            </a:pPr>
            <a:r>
              <a:t>Projected Portfolio Financial Impact</a:t>
            </a:r>
          </a:p>
          <a:p>
            <a:pPr>
              <a:spcAft>
                <a:spcPts val="600"/>
              </a:spcAft>
              <a:defRPr sz="1000" b="0">
                <a:solidFill>
                  <a:srgbClr val="323232"/>
                </a:solidFill>
                <a:latin typeface="Helvetica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Total Approved Loans: 12,947 accounts.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Approved Portfolio Volume: $161.57 Million.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Expected Portfolio Interest Revenue: $58.17 Million (assuming average term of 3 years).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Expected Portfolio Credit Loss: $9.04 Million (under 60% Loss Given Default assumption).</a:t>
            </a:r>
          </a:p>
          <a:p>
            <a:pPr>
              <a:spcAft>
                <a:spcPts val="600"/>
              </a:spcAft>
              <a:defRPr sz="1200" b="0">
                <a:solidFill>
                  <a:srgbClr val="323232"/>
                </a:solidFill>
                <a:latin typeface="Helvetica"/>
              </a:defRPr>
            </a:pPr>
            <a:r>
              <a:t>• Net Interest Margin (NIM): $49.13 Million, yielding a risk-adjusted return margin of 30.4%.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